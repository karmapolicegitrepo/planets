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2194560"/>
          </a:xfrm>
          <a:prstGeom prst="roundRect">
            <a:avLst/>
          </a:prstGeom>
          <a:solidFill>
            <a:srgbClr val="123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5156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E8EEF5"/>
                </a:solidFill>
                <a:latin typeface="Calibri"/>
              </a:rPr>
              <a:t>🎙️  The Missing Link — Studio</a:t>
            </a:r>
          </a:p>
          <a:p>
            <a:pPr algn="l"/>
            <a:r>
              <a:rPr sz="2000" b="0">
                <a:solidFill>
                  <a:srgbClr val="90A4B8"/>
                </a:solidFill>
                <a:latin typeface="Calibri"/>
              </a:rPr>
              <a:t>Turn raw video + audio into a finished podcast — on your own computer, for free.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743200"/>
            <a:ext cx="1051560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39B88B"/>
                </a:solidFill>
                <a:latin typeface="Calibri"/>
              </a:rPr>
              <a:t>What this is</a:t>
            </a:r>
          </a:p>
          <a:p>
            <a:pPr algn="l"/>
            <a:r>
              <a:rPr sz="1800" b="0">
                <a:solidFill>
                  <a:srgbClr val="E8EEF5"/>
                </a:solidFill>
                <a:latin typeface="Calibri"/>
              </a:rPr>
              <a:t>A complete, beginner-friendly podcast workshop. You bring a camera and a microphone; everything else — recording, cleaning, editing-by-choosing, mastering to broadcast loudness, subtitles and publishing — is set up for you.</a:t>
            </a:r>
          </a:p>
          <a:p>
            <a:pPr algn="l"/>
            <a:r>
              <a:rPr sz="800" b="0">
                <a:solidFill>
                  <a:srgbClr val="E8EEF5"/>
                </a:solidFill>
                <a:latin typeface="Calibri"/>
              </a:rPr>
              <a:t/>
            </a:r>
          </a:p>
          <a:p>
            <a:pPr algn="l"/>
            <a:r>
              <a:rPr sz="1600" b="0">
                <a:solidFill>
                  <a:srgbClr val="90A4B8"/>
                </a:solidFill>
                <a:latin typeface="Calibri"/>
              </a:rPr>
              <a:t>Built with free tools a 12-year-old can use: OBS, Audacity, FFmpeg, Whisper, Canva, Spotify for Creators, YouTube — plus the one-window Studio app.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1264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90A4B8"/>
                </a:solidFill>
                <a:latin typeface="Calibri"/>
              </a:rPr>
              <a:t>The show: why Nepalis who love their country still migrate — villages, energy &amp; high-value tourism.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E8EEF5"/>
                </a:solidFill>
                <a:latin typeface="Calibri"/>
              </a:rPr>
              <a:t>The journey of one episode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554480"/>
            <a:ext cx="1783080" cy="2926080"/>
          </a:xfrm>
          <a:prstGeom prst="roundRect">
            <a:avLst/>
          </a:prstGeom>
          <a:solidFill>
            <a:srgbClr val="16212E"/>
          </a:solidFill>
          <a:ln w="12700">
            <a:solidFill>
              <a:srgbClr val="2F7F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17830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000" b="1">
                <a:solidFill>
                  <a:srgbClr val="2F7FD1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468880"/>
            <a:ext cx="1783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E8EEF5"/>
                </a:solidFill>
                <a:latin typeface="Calibri"/>
              </a:rPr>
              <a:t>Record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1" y="3108960"/>
            <a:ext cx="1636776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90A4B8"/>
                </a:solidFill>
                <a:latin typeface="Calibri"/>
              </a:rPr>
              <a:t>Camera + mic into OBS.
Files land in raw/.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42032" y="1554480"/>
            <a:ext cx="1783080" cy="2926080"/>
          </a:xfrm>
          <a:prstGeom prst="roundRect">
            <a:avLst/>
          </a:prstGeom>
          <a:solidFill>
            <a:srgbClr val="16212E"/>
          </a:solidFill>
          <a:ln w="12700">
            <a:solidFill>
              <a:srgbClr val="39B8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542032" y="1737360"/>
            <a:ext cx="17830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000" b="1">
                <a:solidFill>
                  <a:srgbClr val="39B88B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42032" y="2468880"/>
            <a:ext cx="1783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E8EEF5"/>
                </a:solidFill>
                <a:latin typeface="Calibri"/>
              </a:rPr>
              <a:t>Clean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15184" y="3108960"/>
            <a:ext cx="1636776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90A4B8"/>
                </a:solidFill>
                <a:latin typeface="Calibri"/>
              </a:rPr>
              <a:t>One click removes hiss,
rumble, clicks, harsh s’s.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43984" y="1554480"/>
            <a:ext cx="1783080" cy="2926080"/>
          </a:xfrm>
          <a:prstGeom prst="roundRect">
            <a:avLst/>
          </a:prstGeom>
          <a:solidFill>
            <a:srgbClr val="16212E"/>
          </a:solidFill>
          <a:ln w="12700">
            <a:solidFill>
              <a:srgbClr val="2F7F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43984" y="1737360"/>
            <a:ext cx="17830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000" b="1">
                <a:solidFill>
                  <a:srgbClr val="2F7FD1"/>
                </a:solidFill>
                <a:latin typeface="Calibr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43984" y="2468880"/>
            <a:ext cx="1783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E8EEF5"/>
                </a:solidFill>
                <a:latin typeface="Calibri"/>
              </a:rPr>
              <a:t>Choose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17136" y="3108960"/>
            <a:ext cx="1636776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90A4B8"/>
                </a:solidFill>
                <a:latin typeface="Calibri"/>
              </a:rPr>
              <a:t>Auto-split into topics;
tick what to keep.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45936" y="1554480"/>
            <a:ext cx="1783080" cy="2926080"/>
          </a:xfrm>
          <a:prstGeom prst="roundRect">
            <a:avLst/>
          </a:prstGeom>
          <a:solidFill>
            <a:srgbClr val="16212E"/>
          </a:solidFill>
          <a:ln w="12700">
            <a:solidFill>
              <a:srgbClr val="39B8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45936" y="1737360"/>
            <a:ext cx="17830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000" b="1">
                <a:solidFill>
                  <a:srgbClr val="39B88B"/>
                </a:solidFill>
                <a:latin typeface="Calibr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45936" y="2468880"/>
            <a:ext cx="1783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E8EEF5"/>
                </a:solidFill>
                <a:latin typeface="Calibri"/>
              </a:rPr>
              <a:t>Master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9088" y="3108960"/>
            <a:ext cx="1636776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90A4B8"/>
                </a:solidFill>
                <a:latin typeface="Calibri"/>
              </a:rPr>
              <a:t>Auto -16 LUFS loudness,
MP3 + MP4, PASS/FAIL.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47888" y="1554480"/>
            <a:ext cx="1783080" cy="2926080"/>
          </a:xfrm>
          <a:prstGeom prst="roundRect">
            <a:avLst/>
          </a:prstGeom>
          <a:solidFill>
            <a:srgbClr val="16212E"/>
          </a:solidFill>
          <a:ln w="12700">
            <a:solidFill>
              <a:srgbClr val="2F7F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47888" y="1737360"/>
            <a:ext cx="17830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000" b="1">
                <a:solidFill>
                  <a:srgbClr val="2F7FD1"/>
                </a:solidFill>
                <a:latin typeface="Calibri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47888" y="2468880"/>
            <a:ext cx="1783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E8EEF5"/>
                </a:solidFill>
                <a:latin typeface="Calibri"/>
              </a:rPr>
              <a:t>Caption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3108960"/>
            <a:ext cx="1636776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90A4B8"/>
                </a:solidFill>
                <a:latin typeface="Calibri"/>
              </a:rPr>
              <a:t>Whisper writes the
transcript + subtitles.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149840" y="1554480"/>
            <a:ext cx="1783080" cy="2926080"/>
          </a:xfrm>
          <a:prstGeom prst="roundRect">
            <a:avLst/>
          </a:prstGeom>
          <a:solidFill>
            <a:srgbClr val="16212E"/>
          </a:solidFill>
          <a:ln w="12700">
            <a:solidFill>
              <a:srgbClr val="39B8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149840" y="1737360"/>
            <a:ext cx="17830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000" b="1">
                <a:solidFill>
                  <a:srgbClr val="39B88B"/>
                </a:solidFill>
                <a:latin typeface="Calibri"/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49840" y="2468880"/>
            <a:ext cx="1783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E8EEF5"/>
                </a:solidFill>
                <a:latin typeface="Calibri"/>
              </a:rPr>
              <a:t>Publish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22992" y="3108960"/>
            <a:ext cx="1636776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90A4B8"/>
                </a:solidFill>
                <a:latin typeface="Calibri"/>
              </a:rPr>
              <a:t>Spotify for Creators
+ YouTube. Done.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" y="4937760"/>
            <a:ext cx="10908792" cy="1280160"/>
          </a:xfrm>
          <a:prstGeom prst="roundRect">
            <a:avLst/>
          </a:prstGeom>
          <a:solidFill>
            <a:srgbClr val="122A22"/>
          </a:solidFill>
          <a:ln w="12700">
            <a:solidFill>
              <a:srgbClr val="39B8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5120640"/>
            <a:ext cx="104241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E8EEF5"/>
                </a:solidFill>
                <a:latin typeface="Calibri"/>
              </a:rPr>
              <a:t>The big idea: you never touch the command line. One window — the Studio — runs every step with buttons, and lets you keep exactly the bits you like.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E8EEF5"/>
                </a:solidFill>
                <a:latin typeface="Calibri"/>
              </a:rPr>
              <a:t>Before you start (one time only)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54480"/>
            <a:ext cx="10698480" cy="1051560"/>
          </a:xfrm>
          <a:prstGeom prst="roundRect">
            <a:avLst/>
          </a:prstGeom>
          <a:solidFill>
            <a:srgbClr val="162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64207"/>
            <a:ext cx="64008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39B88B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1664207"/>
            <a:ext cx="960120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E8EEF5"/>
                </a:solidFill>
                <a:latin typeface="Calibri"/>
              </a:rPr>
              <a:t>Install 3 free apps</a:t>
            </a:r>
          </a:p>
          <a:p>
            <a:pPr algn="l"/>
            <a:r>
              <a:rPr sz="1500" b="0">
                <a:solidFill>
                  <a:srgbClr val="90A4B8"/>
                </a:solidFill>
                <a:latin typeface="Calibri"/>
              </a:rPr>
              <a:t>OBS Studio (record), Audacity (optional fine edits), Python (runs the Studio).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761488"/>
            <a:ext cx="10698480" cy="1051560"/>
          </a:xfrm>
          <a:prstGeom prst="roundRect">
            <a:avLst/>
          </a:prstGeom>
          <a:solidFill>
            <a:srgbClr val="162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871216"/>
            <a:ext cx="64008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39B88B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2871216"/>
            <a:ext cx="960120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E8EEF5"/>
                </a:solidFill>
                <a:latin typeface="Calibri"/>
              </a:rPr>
              <a:t>Run the setup helper</a:t>
            </a:r>
          </a:p>
          <a:p>
            <a:pPr algn="l"/>
            <a:r>
              <a:rPr sz="1500" b="0">
                <a:solidFill>
                  <a:srgbClr val="90A4B8"/>
                </a:solidFill>
                <a:latin typeface="Calibri"/>
              </a:rPr>
              <a:t>In a terminal:  bash scripts/setup.sh  — it checks FFmpeg and installs Whisper into a tidy .venv.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968496"/>
            <a:ext cx="10698480" cy="1051560"/>
          </a:xfrm>
          <a:prstGeom prst="roundRect">
            <a:avLst/>
          </a:prstGeom>
          <a:solidFill>
            <a:srgbClr val="162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078224"/>
            <a:ext cx="64008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39B88B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4078224"/>
            <a:ext cx="960120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E8EEF5"/>
                </a:solidFill>
                <a:latin typeface="Calibri"/>
              </a:rPr>
              <a:t>Make 3 free accounts (with an adult)</a:t>
            </a:r>
          </a:p>
          <a:p>
            <a:pPr algn="l"/>
            <a:r>
              <a:rPr sz="1500" b="0">
                <a:solidFill>
                  <a:srgbClr val="90A4B8"/>
                </a:solidFill>
                <a:latin typeface="Calibri"/>
              </a:rPr>
              <a:t>Spotify for Creators (host), YouTube (video), Google Drive/MEGA (backup).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175504"/>
            <a:ext cx="10698480" cy="1051560"/>
          </a:xfrm>
          <a:prstGeom prst="roundRect">
            <a:avLst/>
          </a:prstGeom>
          <a:solidFill>
            <a:srgbClr val="162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5285232"/>
            <a:ext cx="64008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39B88B"/>
                </a:solidFill>
                <a:latin typeface="Calibr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5285232"/>
            <a:ext cx="960120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E8EEF5"/>
                </a:solidFill>
                <a:latin typeface="Calibri"/>
              </a:rPr>
              <a:t>Start the Studio</a:t>
            </a:r>
          </a:p>
          <a:p>
            <a:pPr algn="l"/>
            <a:r>
              <a:rPr sz="1500" b="0">
                <a:solidFill>
                  <a:srgbClr val="90A4B8"/>
                </a:solidFill>
                <a:latin typeface="Calibri"/>
              </a:rPr>
              <a:t>python3 scripts/studio.py  → open http://127.0.0.1:8765 in any browser.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E8EEF5"/>
                </a:solidFill>
                <a:latin typeface="Calibri"/>
              </a:rPr>
              <a:t>The Studio window, button by button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10698480" cy="749808"/>
          </a:xfrm>
          <a:prstGeom prst="roundRect">
            <a:avLst/>
          </a:prstGeom>
          <a:solidFill>
            <a:srgbClr val="162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17904"/>
            <a:ext cx="31089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39B88B"/>
                </a:solidFill>
                <a:latin typeface="Calibri"/>
              </a:rPr>
              <a:t>① Clean audio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0" y="1517904"/>
            <a:ext cx="71323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90A4B8"/>
                </a:solidFill>
                <a:latin typeface="Calibri"/>
              </a:rPr>
              <a:t>FFmpeg DSP chain: high-pass 80 Hz, FFT denoise, de-click, de-ess, gentle compression. Pick light / medium / strong.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304288"/>
            <a:ext cx="10698480" cy="749808"/>
          </a:xfrm>
          <a:prstGeom prst="roundRect">
            <a:avLst/>
          </a:prstGeom>
          <a:solidFill>
            <a:srgbClr val="162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359152"/>
            <a:ext cx="31089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2F7FD1"/>
                </a:solidFill>
                <a:latin typeface="Calibri"/>
              </a:rPr>
              <a:t>② Split into segments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2359152"/>
            <a:ext cx="71323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90A4B8"/>
                </a:solidFill>
                <a:latin typeface="Calibri"/>
              </a:rPr>
              <a:t>Whisper transcribes, then the audio is grouped into topic SEGMENTS and smaller SUB-SECTIONS, each auto-tagged.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145536"/>
            <a:ext cx="10698480" cy="749808"/>
          </a:xfrm>
          <a:prstGeom prst="roundRect">
            <a:avLst/>
          </a:prstGeom>
          <a:solidFill>
            <a:srgbClr val="162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200400"/>
            <a:ext cx="31089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E8EEF5"/>
                </a:solidFill>
                <a:latin typeface="Calibri"/>
              </a:rPr>
              <a:t>Tick what to keep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3200400"/>
            <a:ext cx="71323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90A4B8"/>
                </a:solidFill>
                <a:latin typeface="Calibri"/>
              </a:rPr>
              <a:t>Untick a whole segment, or single sub-sections inside it. The bar shows how long your kept episode will be.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986784"/>
            <a:ext cx="10698480" cy="749808"/>
          </a:xfrm>
          <a:prstGeom prst="roundRect">
            <a:avLst/>
          </a:prstGeom>
          <a:solidFill>
            <a:srgbClr val="162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041648"/>
            <a:ext cx="31089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39B88B"/>
                </a:solidFill>
                <a:latin typeface="Calibri"/>
              </a:rPr>
              <a:t>③ Rebuild (keep ticked)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0" y="4041648"/>
            <a:ext cx="71323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90A4B8"/>
                </a:solidFill>
                <a:latin typeface="Calibri"/>
              </a:rPr>
              <a:t>FFmpeg trims and re-joins only the parts you kept — audio and video stay perfectly in sync.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828032"/>
            <a:ext cx="10698480" cy="749808"/>
          </a:xfrm>
          <a:prstGeom prst="roundRect">
            <a:avLst/>
          </a:prstGeom>
          <a:solidFill>
            <a:srgbClr val="162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882896"/>
            <a:ext cx="31089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2F7FD1"/>
                </a:solidFill>
                <a:latin typeface="Calibri"/>
              </a:rPr>
              <a:t>④ Master (-16 LUFS)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0" y="4882896"/>
            <a:ext cx="71323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90A4B8"/>
                </a:solidFill>
                <a:latin typeface="Calibri"/>
              </a:rPr>
              <a:t>Two-pass loudness normalisation to the podcast standard, exports episode.mp3 + episode.mp4, prints PASS/FAIL.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5669280"/>
            <a:ext cx="10698480" cy="749808"/>
          </a:xfrm>
          <a:prstGeom prst="roundRect">
            <a:avLst/>
          </a:prstGeom>
          <a:solidFill>
            <a:srgbClr val="162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5724144"/>
            <a:ext cx="31089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E8EEF5"/>
                </a:solidFill>
                <a:latin typeface="Calibri"/>
              </a:rPr>
              <a:t>Subtitles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0" y="5724144"/>
            <a:ext cx="71323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90A4B8"/>
                </a:solidFill>
                <a:latin typeface="Calibri"/>
              </a:rPr>
              <a:t>Whisper writes episode.txt + episode.srt for YouTube and accessibility.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E8EEF5"/>
                </a:solidFill>
                <a:latin typeface="Calibri"/>
              </a:rPr>
              <a:t>Segments vs. sub-sections — the editing superpower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8016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90A4B8"/>
                </a:solidFill>
                <a:latin typeface="Calibri"/>
              </a:rPr>
              <a:t>Instead of scrubbing a waveform, you edit by MEANING. The episode is cut into topics you can read and pick from.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194560"/>
            <a:ext cx="10698480" cy="3383280"/>
          </a:xfrm>
          <a:prstGeom prst="roundRect">
            <a:avLst/>
          </a:prstGeom>
          <a:solidFill>
            <a:srgbClr val="16212E"/>
          </a:solidFill>
          <a:ln w="12700">
            <a:solidFill>
              <a:srgbClr val="2F7F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377440"/>
            <a:ext cx="1024128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39B88B"/>
                </a:solidFill>
                <a:latin typeface="Calibri"/>
              </a:rPr>
              <a:t>📁  SEGMENT — “kings · villages · roads”   04:12–09:30      ☑ keep</a:t>
            </a:r>
          </a:p>
          <a:p>
            <a:pPr algn="l"/>
            <a:r>
              <a:rPr sz="1500" b="0">
                <a:solidFill>
                  <a:srgbClr val="E8EEF5"/>
                </a:solidFill>
                <a:latin typeface="Calibri"/>
              </a:rPr>
              <a:t>      ▫ sub-section  “return to the villages movement”   04:12–05:40   ☑</a:t>
            </a:r>
          </a:p>
          <a:p>
            <a:pPr algn="l"/>
            <a:r>
              <a:rPr sz="1500" b="0">
                <a:solidFill>
                  <a:srgbClr val="90A4B8"/>
                </a:solidFill>
                <a:latin typeface="Calibri"/>
              </a:rPr>
              <a:t>      ▫ sub-section  “a rambling tangent about lunch”     05:40–06:55   ☐  (untick!)</a:t>
            </a:r>
          </a:p>
          <a:p>
            <a:pPr algn="l"/>
            <a:r>
              <a:rPr sz="1500" b="0">
                <a:solidFill>
                  <a:srgbClr val="E8EEF5"/>
                </a:solidFill>
                <a:latin typeface="Calibri"/>
              </a:rPr>
              <a:t>      ▫ sub-section  “roads, schools, clinics promised”   06:55–09:30   ☑</a:t>
            </a:r>
          </a:p>
          <a:p>
            <a:pPr algn="l"/>
            <a:r>
              <a:rPr sz="800" b="0">
                <a:solidFill>
                  <a:srgbClr val="E8EEF5"/>
                </a:solidFill>
                <a:latin typeface="Calibri"/>
              </a:rPr>
              <a:t/>
            </a:r>
          </a:p>
          <a:p>
            <a:pPr algn="l"/>
            <a:r>
              <a:rPr sz="1800" b="1">
                <a:solidFill>
                  <a:srgbClr val="39B88B"/>
                </a:solidFill>
                <a:latin typeface="Calibri"/>
              </a:rPr>
              <a:t>📁  SEGMENT — “geothermal · tato pani · tourism”   09:30–14:05    ☑ keep</a:t>
            </a:r>
          </a:p>
          <a:p>
            <a:pPr algn="l"/>
            <a:r>
              <a:rPr sz="1500" b="0">
                <a:solidFill>
                  <a:srgbClr val="E8EEF5"/>
                </a:solidFill>
                <a:latin typeface="Calibri"/>
              </a:rPr>
              <a:t>      ▫ sub-section  “tato pani springs heat homes”      09:30–11:20   ☑</a:t>
            </a:r>
          </a:p>
          <a:p>
            <a:pPr algn="l"/>
            <a:r>
              <a:rPr sz="1500" b="0">
                <a:solidFill>
                  <a:srgbClr val="E8EEF5"/>
                </a:solidFill>
                <a:latin typeface="Calibri"/>
              </a:rPr>
              <a:t>      ▫ sub-section  “high-value tourism in Mustang”     11:20–14:05   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76072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90A4B8"/>
                </a:solidFill>
                <a:latin typeface="Calibri"/>
              </a:rPr>
              <a:t>Keep a whole segment, drop one tangent inside it, or remove an entire topic — then press Rebuild. Nothing original is lost; re-choose any time.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E8EEF5"/>
                </a:solidFill>
                <a:latin typeface="Calibri"/>
              </a:rPr>
              <a:t>Publish everywhere — for free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54480"/>
            <a:ext cx="5349240" cy="4206240"/>
          </a:xfrm>
          <a:prstGeom prst="roundRect">
            <a:avLst/>
          </a:prstGeom>
          <a:solidFill>
            <a:srgbClr val="16212E"/>
          </a:solidFill>
          <a:ln w="12700">
            <a:solidFill>
              <a:srgbClr val="39B8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783080"/>
            <a:ext cx="48463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39B88B"/>
                </a:solidFill>
                <a:latin typeface="Calibri"/>
              </a:rPr>
              <a:t>🎧 Audio → Spotify for Creators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560320"/>
            <a:ext cx="484632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E8EEF5"/>
                </a:solidFill>
                <a:latin typeface="Calibri"/>
              </a:rPr>
              <a:t>•  Upload exports/episode.mp3</a:t>
            </a:r>
          </a:p>
          <a:p>
            <a:pPr algn="l"/>
            <a:r>
              <a:rPr sz="1600" b="0">
                <a:solidFill>
                  <a:srgbClr val="E8EEF5"/>
                </a:solidFill>
                <a:latin typeface="Calibri"/>
              </a:rPr>
              <a:t>•  Paste title, notes, chapters</a:t>
            </a:r>
          </a:p>
          <a:p>
            <a:pPr algn="l"/>
            <a:r>
              <a:rPr sz="1600" b="0">
                <a:solidFill>
                  <a:srgbClr val="E8EEF5"/>
                </a:solidFill>
                <a:latin typeface="Calibri"/>
              </a:rPr>
              <a:t>•  It auto-builds your RSS feed</a:t>
            </a:r>
          </a:p>
          <a:p>
            <a:pPr algn="l"/>
            <a:r>
              <a:rPr sz="1600" b="0">
                <a:solidFill>
                  <a:srgbClr val="E8EEF5"/>
                </a:solidFill>
                <a:latin typeface="Calibri"/>
              </a:rPr>
              <a:t>•  1-click to Spotify; submit RSS to Apple</a:t>
            </a:r>
          </a:p>
          <a:p>
            <a:pPr algn="l"/>
            <a:r>
              <a:rPr sz="1600" b="0">
                <a:solidFill>
                  <a:srgbClr val="E8EEF5"/>
                </a:solidFill>
                <a:latin typeface="Calibri"/>
              </a:rPr>
              <a:t>•  RSS = portable: never lose your audience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1554480"/>
            <a:ext cx="5349240" cy="4206240"/>
          </a:xfrm>
          <a:prstGeom prst="roundRect">
            <a:avLst/>
          </a:prstGeom>
          <a:solidFill>
            <a:srgbClr val="16212E"/>
          </a:solidFill>
          <a:ln w="12700">
            <a:solidFill>
              <a:srgbClr val="2F7F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37959" y="1783080"/>
            <a:ext cx="48463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2F7FD1"/>
                </a:solidFill>
                <a:latin typeface="Calibri"/>
              </a:rPr>
              <a:t>📺 Video → YouTube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37959" y="2560320"/>
            <a:ext cx="484632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E8EEF5"/>
                </a:solidFill>
                <a:latin typeface="Calibri"/>
              </a:rPr>
              <a:t>•  Upload exports/episode.mp4</a:t>
            </a:r>
          </a:p>
          <a:p>
            <a:pPr algn="l"/>
            <a:r>
              <a:rPr sz="1600" b="0">
                <a:solidFill>
                  <a:srgbClr val="E8EEF5"/>
                </a:solidFill>
                <a:latin typeface="Calibri"/>
              </a:rPr>
              <a:t>•  Add captions/episode.srt (subtitles)</a:t>
            </a:r>
          </a:p>
          <a:p>
            <a:pPr algn="l"/>
            <a:r>
              <a:rPr sz="1600" b="0">
                <a:solidFill>
                  <a:srgbClr val="E8EEF5"/>
                </a:solidFill>
                <a:latin typeface="Calibri"/>
              </a:rPr>
              <a:t>•  Reuse chapters as timestamps</a:t>
            </a:r>
          </a:p>
          <a:p>
            <a:pPr algn="l"/>
            <a:r>
              <a:rPr sz="1600" b="0">
                <a:solidFill>
                  <a:srgbClr val="E8EEF5"/>
                </a:solidFill>
                <a:latin typeface="Calibri"/>
              </a:rPr>
              <a:t>•  Add the 1400×1400 cover as thumbnail</a:t>
            </a:r>
          </a:p>
          <a:p>
            <a:pPr algn="l"/>
            <a:r>
              <a:rPr sz="1600" b="0">
                <a:solidFill>
                  <a:srgbClr val="E8EEF5"/>
                </a:solidFill>
                <a:latin typeface="Calibri"/>
              </a:rPr>
              <a:t>•  Huge discovery + accessibility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943600"/>
            <a:ext cx="10835640" cy="731520"/>
          </a:xfrm>
          <a:prstGeom prst="roundRect">
            <a:avLst/>
          </a:prstGeom>
          <a:solidFill>
            <a:srgbClr val="122A22"/>
          </a:solidFill>
          <a:ln w="12700">
            <a:solidFill>
              <a:srgbClr val="39B8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6035040"/>
            <a:ext cx="104241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E8EEF5"/>
                </a:solidFill>
                <a:latin typeface="Calibri"/>
              </a:rPr>
              <a:t>Then back up the whole episode folder to the cloud — never keep only one copy.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E8EEF5"/>
                </a:solidFill>
                <a:latin typeface="Calibri"/>
              </a:rPr>
              <a:t>Cheat-sheet (terminal optional)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90A4B8"/>
                </a:solidFill>
                <a:latin typeface="Calibri"/>
              </a:rPr>
              <a:t>Everything below is also a button in the Studio window.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83080"/>
            <a:ext cx="47548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E8EEF5"/>
                </a:solidFill>
                <a:latin typeface="Calibri"/>
              </a:rPr>
              <a:t>Start the Studio (the easy way)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0" y="1783080"/>
            <a:ext cx="5852160" cy="566928"/>
          </a:xfrm>
          <a:prstGeom prst="roundRect">
            <a:avLst/>
          </a:prstGeom>
          <a:solidFill>
            <a:srgbClr val="0A11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852160" y="1783080"/>
            <a:ext cx="557784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39B88B"/>
                </a:solidFill>
                <a:latin typeface="Calibri"/>
              </a:rPr>
              <a:t>python3 scripts/studio.py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441448"/>
            <a:ext cx="47548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E8EEF5"/>
                </a:solidFill>
                <a:latin typeface="Calibri"/>
              </a:rPr>
              <a:t>New episode folder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0" y="2441448"/>
            <a:ext cx="5852160" cy="566928"/>
          </a:xfrm>
          <a:prstGeom prst="roundRect">
            <a:avLst/>
          </a:prstGeom>
          <a:solidFill>
            <a:srgbClr val="0A11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852160" y="2441448"/>
            <a:ext cx="557784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39B88B"/>
                </a:solidFill>
                <a:latin typeface="Calibri"/>
              </a:rPr>
              <a:t>bash scripts/new_episode.sh 01 "The Missing Link"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099815"/>
            <a:ext cx="47548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E8EEF5"/>
                </a:solidFill>
                <a:latin typeface="Calibri"/>
              </a:rPr>
              <a:t>Clean the audio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0" y="3099815"/>
            <a:ext cx="5852160" cy="566928"/>
          </a:xfrm>
          <a:prstGeom prst="roundRect">
            <a:avLst/>
          </a:prstGeom>
          <a:solidFill>
            <a:srgbClr val="0A11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52160" y="3099815"/>
            <a:ext cx="557784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39B88B"/>
                </a:solidFill>
                <a:latin typeface="Calibri"/>
              </a:rPr>
              <a:t>bash scripts/clean_audio.sh episodes/01-the-missing-link medium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758183"/>
            <a:ext cx="47548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E8EEF5"/>
                </a:solidFill>
                <a:latin typeface="Calibri"/>
              </a:rPr>
              <a:t>Split into tagged segments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0" y="3758183"/>
            <a:ext cx="5852160" cy="566928"/>
          </a:xfrm>
          <a:prstGeom prst="roundRect">
            <a:avLst/>
          </a:prstGeom>
          <a:solidFill>
            <a:srgbClr val="0A11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52160" y="3758183"/>
            <a:ext cx="557784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39B88B"/>
                </a:solidFill>
                <a:latin typeface="Calibri"/>
              </a:rPr>
              <a:t>python3 scripts/segment_episode.py episodes/01-the-missing-link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416551"/>
            <a:ext cx="47548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E8EEF5"/>
                </a:solidFill>
                <a:latin typeface="Calibri"/>
              </a:rPr>
              <a:t>Rebuild from your choices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0" y="4416551"/>
            <a:ext cx="5852160" cy="566928"/>
          </a:xfrm>
          <a:prstGeom prst="roundRect">
            <a:avLst/>
          </a:prstGeom>
          <a:solidFill>
            <a:srgbClr val="0A11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852160" y="4416551"/>
            <a:ext cx="557784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39B88B"/>
                </a:solidFill>
                <a:latin typeface="Calibri"/>
              </a:rPr>
              <a:t>python3 scripts/render_selection.py episodes/01-the-missing-link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074919"/>
            <a:ext cx="47548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E8EEF5"/>
                </a:solidFill>
                <a:latin typeface="Calibri"/>
              </a:rPr>
              <a:t>Master to -16 LUFS (MP3+MP4)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0" y="5074919"/>
            <a:ext cx="5852160" cy="566928"/>
          </a:xfrm>
          <a:prstGeom prst="roundRect">
            <a:avLst/>
          </a:prstGeom>
          <a:solidFill>
            <a:srgbClr val="0A11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52160" y="5074919"/>
            <a:ext cx="557784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39B88B"/>
                </a:solidFill>
                <a:latin typeface="Calibri"/>
              </a:rPr>
              <a:t>bash scripts/process_episode.sh episodes/01-the-missing-link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5733287"/>
            <a:ext cx="47548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E8EEF5"/>
                </a:solidFill>
                <a:latin typeface="Calibri"/>
              </a:rPr>
              <a:t>Subtitles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9280" y="5733287"/>
            <a:ext cx="5852160" cy="566928"/>
          </a:xfrm>
          <a:prstGeom prst="roundRect">
            <a:avLst/>
          </a:prstGeom>
          <a:solidFill>
            <a:srgbClr val="0A11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52160" y="5733287"/>
            <a:ext cx="557784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39B88B"/>
                </a:solidFill>
                <a:latin typeface="Calibri"/>
              </a:rPr>
              <a:t>python3 scripts/transcribe.py episodes/01-the-missing-link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2377440"/>
            <a:ext cx="12191695" cy="2103120"/>
          </a:xfrm>
          <a:prstGeom prst="roundRect">
            <a:avLst/>
          </a:prstGeom>
          <a:solidFill>
            <a:srgbClr val="123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743200"/>
            <a:ext cx="10515600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400" b="1">
                <a:solidFill>
                  <a:srgbClr val="E8EEF5"/>
                </a:solidFill>
                <a:latin typeface="Calibri"/>
              </a:rPr>
              <a:t>Done is better than perfect.</a:t>
            </a:r>
          </a:p>
          <a:p>
            <a:pPr algn="ctr"/>
            <a:r>
              <a:rPr sz="2000" b="0">
                <a:solidFill>
                  <a:srgbClr val="90A4B8"/>
                </a:solidFill>
                <a:latin typeface="Calibri"/>
              </a:rPr>
              <a:t>Record · Clean · Choose · Master · Caption · Publish — then do it again next week.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84632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0">
                <a:solidFill>
                  <a:srgbClr val="90A4B8"/>
                </a:solidFill>
                <a:latin typeface="Calibri"/>
              </a:rPr>
              <a:t>Full guides live in 02-implementation/ · the show’s story lives in 03-content/.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